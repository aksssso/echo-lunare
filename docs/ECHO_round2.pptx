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8A70"/>
                </a:solidFill>
                <a:latin typeface="Calibri"/>
              </a:rPr>
              <a:t>ECHO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4F1EA"/>
                </a:solidFill>
                <a:latin typeface="Calibri"/>
              </a:rPr>
              <a:t>Every Shortage Leaves a Signal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F4F1EA"/>
                </a:solidFill>
                <a:latin typeface="Calibri"/>
              </a:rPr>
              <a:t>Problem. A fresh-produce counter stocks out after the cause has already moved through growers, sheds, and hubs.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F4F1EA"/>
                </a:solidFill>
                <a:latin typeface="Calibri"/>
              </a:rPr>
              <a:t>Planners see the empty shelf. They rarely get to compare feasible responses on the same facts.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F4F1EA"/>
                </a:solidFill>
                <a:latin typeface="Calibri"/>
              </a:rPr>
              <a:t>Solution. A synthetic early-warning and what-if prototype: detect thin cover, trace downstream exposure, and compare do-nothing, alternative sourcing, and redistribution.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F4F1EA"/>
                </a:solidFill>
                <a:latin typeface="Calibri"/>
              </a:rPr>
              <a:t>Status. Working local prototype. Illustrative Indian place labels. Not a live supply chain and not a field measurement.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7C0CE"/>
                </a:solidFill>
                <a:latin typeface="Calibri"/>
              </a:rPr>
              <a:t>Team Lunaré  ·  Commit for Good Round 2  ·  Synthetic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8A70"/>
                </a:solidFill>
                <a:latin typeface="Calibri"/>
              </a:rPr>
              <a:t>Architecture and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F4F1EA"/>
                </a:solidFill>
                <a:latin typeface="Calibri"/>
              </a:rPr>
              <a:t>1. data_generator.py builds a seeded demand plan. It does not step inventory.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F4F1EA"/>
                </a:solidFill>
                <a:latin typeface="Calibri"/>
              </a:rPr>
              <a:t>2. network.py holds the synthetic graph: suppliers, warehouses, hubs, retailers, lanes, capacities, opening stock.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F4F1EA"/>
                </a:solidFill>
                <a:latin typeface="Calibri"/>
              </a:rPr>
              <a:t>3. simulation.py steps one day at a time: production, arrivals, assumed spoilage, lost sales, then shipments.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F4F1EA"/>
                </a:solidFill>
                <a:latin typeface="Calibri"/>
              </a:rPr>
              <a:t>4. risk_engine.py scores that morning only. It cannot see future demand or future stockouts.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F4F1EA"/>
                </a:solidFill>
                <a:latin typeface="Calibri"/>
              </a:rPr>
              <a:t>5. interventions.py applies do-nothing, alternative sourcing, or redistribution under the same seed.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F4F1EA"/>
                </a:solidFill>
                <a:latin typeface="Calibri"/>
              </a:rPr>
              <a:t>6. evaluation.py replays held-out scenarios and calls sklearn for precision, recall, and F1.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F4F1EA"/>
                </a:solidFill>
                <a:latin typeface="Calibri"/>
              </a:rPr>
              <a:t>7. Streamlit (app.py) renders the run. No API keys, database, or runtime network calls.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8A70"/>
                </a:solidFill>
                <a:latin typeface="Calibri"/>
              </a:rPr>
              <a:t>Technical approach and synthetic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>
                <a:solidFill>
                  <a:srgbClr val="F4F1EA"/>
                </a:solidFill>
                <a:latin typeface="Calibri"/>
              </a:rPr>
              <a:t>Crops: tomato, onion, potato. Unit: crates. Step: one day. Unmet demand is lost, not backlogged.</a:t>
            </a:r>
          </a:p>
          <a:p>
            <a:pPr algn="l">
              <a:spcAft>
                <a:spcPts val="800"/>
              </a:spcAft>
            </a:pPr>
            <a:r>
              <a:rPr sz="1700">
                <a:solidFill>
                  <a:srgbClr val="F4F1EA"/>
                </a:solidFill>
                <a:latin typeface="Calibri"/>
              </a:rPr>
              <a:t>Alert if stock plus pipeline due before the next primary replenishment cannot cover expected requested demand, or if the fixed-weight score reaches 0.40.</a:t>
            </a:r>
          </a:p>
          <a:p>
            <a:pPr algn="l">
              <a:spcAft>
                <a:spcPts val="800"/>
              </a:spcAft>
            </a:pPr>
            <a:r>
              <a:rPr sz="1700">
                <a:solidFill>
                  <a:srgbClr val="F4F1EA"/>
                </a:solidFill>
                <a:latin typeface="Calibri"/>
              </a:rPr>
              <a:t>Weights, not fit on the test set: cover 0.50, delay 0.20, demand deviation 0.15, upstream capacity 0.15.</a:t>
            </a:r>
          </a:p>
          <a:p>
            <a:pPr algn="l">
              <a:spcAft>
                <a:spcPts val="800"/>
              </a:spcAft>
            </a:pPr>
            <a:r>
              <a:rPr sz="1700">
                <a:solidFill>
                  <a:srgbClr val="F4F1EA"/>
                </a:solidFill>
                <a:latin typeface="Calibri"/>
              </a:rPr>
              <a:t>Requested demand is used, never sales. A stockout must not look like a quiet market.</a:t>
            </a:r>
          </a:p>
          <a:p>
            <a:pPr algn="l">
              <a:spcAft>
                <a:spcPts val="800"/>
              </a:spcAft>
            </a:pPr>
            <a:r>
              <a:rPr sz="1700">
                <a:solidFill>
                  <a:srgbClr val="F4F1EA"/>
                </a:solidFill>
                <a:latin typeface="Calibri"/>
              </a:rPr>
              <a:t>Spoilage is an assumption on hub and retailer on-hand stock only (tomato 2%, onion 0.8%, potato 0.3%).</a:t>
            </a:r>
          </a:p>
          <a:p>
            <a:pPr algn="l">
              <a:spcAft>
                <a:spcPts val="800"/>
              </a:spcAft>
            </a:pPr>
            <a:r>
              <a:rPr sz="1700">
                <a:solidFill>
                  <a:srgbClr val="F4F1EA"/>
                </a:solidFill>
                <a:latin typeface="Calibri"/>
              </a:rPr>
              <a:t>Baseline comparator: on-hand cover below 2 days. It ignores pipeline, delay, and supplier capacity.</a:t>
            </a:r>
          </a:p>
          <a:p>
            <a:pPr algn="l">
              <a:spcAft>
                <a:spcPts val="800"/>
              </a:spcAft>
            </a:pPr>
            <a:r>
              <a:rPr sz="1700">
                <a:solidFill>
                  <a:srgbClr val="F4F1EA"/>
                </a:solidFill>
                <a:latin typeface="Calibri"/>
              </a:rPr>
              <a:t>Alternate lanes and lateral moves are attempted only when stock and route capacity exist. Donors keep 1 day of outflow.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8A70"/>
                </a:solidFill>
                <a:latin typeface="Calibri"/>
              </a:rPr>
              <a:t>Implemented prototype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F4F1EA"/>
                </a:solidFill>
                <a:latin typeface="Calibri"/>
              </a:rPr>
              <a:t>Runnable Streamlit app: streamlit run app.py.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F4F1EA"/>
                </a:solidFill>
                <a:latin typeface="Calibri"/>
              </a:rPr>
              <a:t>Sections: executive overview, supply network, early warning, disruption lab, parallel futures, audit, evaluation, data explorer, about.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F4F1EA"/>
                </a:solidFill>
                <a:latin typeface="Calibri"/>
              </a:rPr>
              <a:t>Controls that change the scenario: preset, seed, horizon, shock type, supplier, route, capacity cut, demand multiplier, delay, window. Applied by Run simulation.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F4F1EA"/>
                </a:solidFill>
                <a:latin typeface="Calibri"/>
              </a:rPr>
              <a:t>Reset restores the default Nagpur–Delhi transport delay. Compare interventions opens the futures page.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F4F1EA"/>
                </a:solidFill>
                <a:latin typeface="Calibri"/>
              </a:rPr>
              <a:t>CSV download is available for catalogue tables, shipments, risk rows, and policy summaries.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F4F1EA"/>
                </a:solidFill>
                <a:latin typeface="Calibri"/>
              </a:rPr>
              <a:t>Screenshots: capture them from a local run. This deck does not embed a fake product shot.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F4F1EA"/>
                </a:solidFill>
                <a:latin typeface="Calibri"/>
              </a:rPr>
              <a:t>No deployed URL is claimed.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8A70"/>
                </a:solidFill>
                <a:latin typeface="Calibri"/>
              </a:rPr>
              <a:t>Evaluation — computed on this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7C0CE"/>
                </a:solidFill>
                <a:latin typeface="Calibri"/>
              </a:rPr>
              <a:t>Held-out synthetic scenarios. Day-level labels use a 3-day window. Undefined metrics are not shown as zero.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188720"/>
            <a:ext cx="113385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>
                <a:solidFill>
                  <a:srgbClr val="F4F1EA"/>
                </a:solidFill>
                <a:latin typeface="Calibri"/>
              </a:rPr>
              <a:t>Mild Nashik loss: ECHO P undefined R undefined F1 undefined | baseline P undefined R undefined F1 undefined | false alarms ECHO 0 / baseline 0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F4F1EA"/>
                </a:solidFill>
                <a:latin typeface="Calibri"/>
              </a:rPr>
              <a:t>Severe Nashik loss: ECHO P 1.000 R 0.444 F1 0.615 | baseline P 0.875 R 0.778 F1 0.824 | false alarms ECHO 0 / baseline 1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F4F1EA"/>
                </a:solidFill>
                <a:latin typeface="Calibri"/>
              </a:rPr>
              <a:t>Delhi demand surge: ECHO P 0.970 R 0.582 F1 0.727 | baseline P 0.738 R 0.873 F1 0.800 | false alarms ECHO 1 / baseline 17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F4F1EA"/>
                </a:solidFill>
                <a:latin typeface="Calibri"/>
              </a:rPr>
              <a:t>Severe Delhi demand surge: ECHO P 1.000 R 0.686 F1 0.814 | baseline P 0.896 R 0.857 F1 0.876 | false alarms ECHO 0 / baseline 7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F4F1EA"/>
                </a:solidFill>
                <a:latin typeface="Calibri"/>
              </a:rPr>
              <a:t>Nagpur–Delhi delay: ECHO P 1.000 R 0.691 F1 0.818 | baseline P 0.986 R 0.877 F1 0.928 | false alarms ECHO 0 / baseline 1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F4F1EA"/>
                </a:solidFill>
                <a:latin typeface="Calibri"/>
              </a:rPr>
              <a:t>Long Nagpur–Delhi delay: ECHO P 1.000 R 0.720 F1 0.837 | baseline P 0.928 R 0.853 F1 0.889 | false alarms ECHO 0 / baseline 5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F4F1EA"/>
                </a:solidFill>
                <a:latin typeface="Calibri"/>
              </a:rPr>
              <a:t>No disruption: ECHO P undefined R undefined F1 undefined | baseline P undefined R undefined F1 undefined | false alarms ECHO 0 / baseline 0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F4F1EA"/>
                </a:solidFill>
                <a:latin typeface="Calibri"/>
              </a:rPr>
              <a:t>Localised surge, aggressive sharing stress: ECHO P 0.935 R 0.659 F1 0.773 | baseline P 0.833 R 0.909 F1 0.870 | false alarms ECHO 2 / baseline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8A70"/>
                </a:solidFill>
                <a:latin typeface="Calibri"/>
              </a:rPr>
              <a:t>Feasibility, beneficiaries, responsible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>
                <a:solidFill>
                  <a:srgbClr val="F4F1EA"/>
                </a:solidFill>
                <a:latin typeface="Calibri"/>
              </a:rPr>
              <a:t>Intended future users: replenishment planners, producer organisations, and city market managers. This demo does not serve them with live data.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F4F1EA"/>
                </a:solidFill>
                <a:latin typeface="Calibri"/>
              </a:rPr>
              <a:t>Actions are advisory. A wrong alert could push stock away from a counter that needed it.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F4F1EA"/>
                </a:solidFill>
                <a:latin typeface="Calibri"/>
              </a:rPr>
              <a:t>Mild Nashik loss: do-nothing unmet 0 crates; lowest unmet in this run is Do nothing at 0.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F4F1EA"/>
                </a:solidFill>
                <a:latin typeface="Calibri"/>
              </a:rPr>
              <a:t>Severe Nashik loss: do-nothing unmet 42 crates; lowest unmet in this run is Alternative sourcing at 0.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F4F1EA"/>
                </a:solidFill>
                <a:latin typeface="Calibri"/>
              </a:rPr>
              <a:t>Delhi demand surge: do-nothing unmet 1488 crates; lowest unmet in this run is Alternative sourcing at 1149.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F4F1EA"/>
                </a:solidFill>
                <a:latin typeface="Calibri"/>
              </a:rPr>
              <a:t>Severe Delhi demand surge: do-nothing unmet 3285 crates; lowest unmet in this run is Alternative sourcing at 2971.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F4F1EA"/>
                </a:solidFill>
                <a:latin typeface="Calibri"/>
              </a:rPr>
              <a:t>Interventions are allowed to look worse. Read the operating table before claiming a winner.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8A70"/>
                </a:solidFill>
                <a:latin typeface="Calibri"/>
              </a:rPr>
              <a:t>Future scope and real-world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F4F1EA"/>
                </a:solidFill>
                <a:latin typeface="Calibri"/>
              </a:rPr>
              <a:t>Not in this build: live data, an optimiser, rupee costs, or a claim of reduced food waste.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F4F1EA"/>
                </a:solidFill>
                <a:latin typeface="Calibri"/>
              </a:rPr>
              <a:t>Validation would need permissioned stock and requested-demand logs, and a lane list operators recognise.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F4F1EA"/>
                </a:solidFill>
                <a:latin typeface="Calibri"/>
              </a:rPr>
              <a:t>Spoilage percentages need a study. The current rates are assumptions.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F4F1EA"/>
                </a:solidFill>
                <a:latin typeface="Calibri"/>
              </a:rPr>
              <a:t>A prospective test should log alerts using only past data, then compare them with later stockouts.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F4F1EA"/>
                </a:solidFill>
                <a:latin typeface="Calibri"/>
              </a:rPr>
              <a:t>Someone must own the operating decision. This repository does not name a deployment partner.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F4F1EA"/>
                </a:solidFill>
                <a:latin typeface="Calibri"/>
              </a:rPr>
              <a:t>Citations for national food-loss statistics are intentionally omitted until the team verifies them.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8A70"/>
                </a:solidFill>
                <a:latin typeface="Calibri"/>
              </a:rPr>
              <a:t>Team and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F4F1EA"/>
                </a:solidFill>
                <a:latin typeface="Calibri"/>
              </a:rPr>
              <a:t>Team: Lunaré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F4F1EA"/>
                </a:solidFill>
                <a:latin typeface="Calibri"/>
              </a:rPr>
              <a:t>Team leader: Akshadha Saxena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F4F1EA"/>
                </a:solidFill>
                <a:latin typeface="Calibri"/>
              </a:rPr>
              <a:t>Other members: add only the people who are actually on the team.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F4F1EA"/>
                </a:solidFill>
                <a:latin typeface="Calibri"/>
              </a:rPr>
              <a:t>GitHub repository: not published from this build. Add the URL after the push.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F4F1EA"/>
                </a:solidFill>
                <a:latin typeface="Calibri"/>
              </a:rPr>
              <a:t>Live demo: not deployed from this build. Add the URL only after Streamlit Community Cloud succeeds.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F4F1EA"/>
                </a:solidFill>
                <a:latin typeface="Calibri"/>
              </a:rPr>
              <a:t>Local demo command: streamlit run app.py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F4F1EA"/>
                </a:solidFill>
                <a:latin typeface="Calibri"/>
              </a:rPr>
              <a:t>Tests: pytest -q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